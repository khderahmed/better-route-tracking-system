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92" d="100"/>
          <a:sy n="92" d="100"/>
        </p:scale>
        <p:origin x="30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ECB66D1-2DB9-42F4-A1BD-1AE6F8026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2B4DDCB9-51C4-498F-A8DE-E59B1324F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DFA8C33-7B43-4E2C-AC73-FE889980C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1CC9-5821-4A39-84E1-A333C9177D1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56C9AC6-FA9D-422C-8354-E3ED592D2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D595BBB-8CC6-4276-ABA4-7541A4BC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6F38-2BFB-4B78-B6F7-2BCB71A2F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3939F77-3E02-4277-A4F7-362E2919F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65DE35F-2DC6-4A25-8F19-D47504C37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B2A2140-8C33-4F5C-B204-CF64555FA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1CC9-5821-4A39-84E1-A333C9177D1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F807C34-24FC-4147-B063-3681A5A7B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2F9EB5F-9AA6-425A-9B80-C43486DB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6F38-2BFB-4B78-B6F7-2BCB71A2F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37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199AC32-52A3-45FE-ABD2-104D409B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38398C85-3F56-434A-8FBF-2E73C61A5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DD23011-D5FF-477A-9C4E-FC9CC424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1CC9-5821-4A39-84E1-A333C9177D1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72D0B18-4417-4AE9-9DB4-6AAA06490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5AB45A2-C15D-4619-A832-9B04C0C4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6F38-2BFB-4B78-B6F7-2BCB71A2F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99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2CDBA20-4879-4815-9247-1A48C0A79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2917CA8-FDD6-43ED-A685-EEE4408E2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EE864F8E-8895-4E5C-8661-D0B380179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E24E5966-F869-42D2-BB71-B2B2F4D8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1CC9-5821-4A39-84E1-A333C9177D1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48CC65DA-4131-4458-A5E0-56A5C988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F8241AD4-4E39-4DD3-8F44-2A8A3F3D6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6F38-2BFB-4B78-B6F7-2BCB71A2F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6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C51BE5D-FD8F-45BA-B0FE-99ABF8DDC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59186EB0-3942-403C-AF9F-2F61626B0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8F232B9B-F83B-4217-B149-2CFC42486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D3B8239B-214C-4C81-8031-6F2A70948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7841F11A-11ED-4AF6-BAA4-C1570B24C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E2A4989E-D274-4995-A36C-4E3DDBC1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1CC9-5821-4A39-84E1-A333C9177D1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648BE060-FDC1-4F9C-963E-668011693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7FF221A1-715B-46AA-912A-626C8E9C7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6F38-2BFB-4B78-B6F7-2BCB71A2F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92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2ED454E-D632-4685-B96E-84863EFA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CA840952-0F92-48FE-B07C-71078AF0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1CC9-5821-4A39-84E1-A333C9177D1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081888DE-56ED-4CF7-94E2-BF3605EB0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6566A4ED-9B46-4703-96D9-8857541D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6F38-2BFB-4B78-B6F7-2BCB71A2F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28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50F9666-2507-4B12-8D93-0A24DE44D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1CC9-5821-4A39-84E1-A333C9177D1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9ECFD0B4-308B-4BDC-A192-9608A52EC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E55E057-3070-43BA-AD4E-9ABD8AAF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6F38-2BFB-4B78-B6F7-2BCB71A2F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11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5AA5411-8161-475A-BC5D-383EDA6C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6571179-152A-4AA5-BAF1-F91ABBCEC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CC7AE020-C48B-4856-9BA9-ED62C8A9A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11909B81-D26E-4878-9E10-9E095DF5C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1CC9-5821-4A39-84E1-A333C9177D1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DB22CC7-8514-408B-89D2-58F8342E9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7493676-D8C5-4E92-BA32-80B20FA6F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6F38-2BFB-4B78-B6F7-2BCB71A2F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775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B47CC4E-B76E-422E-863B-FD0D2F423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50BA9A3B-E774-4657-9A06-78B1BC708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531F16C7-BEEA-4792-B222-918508E3D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F19E083-20FB-42C2-B286-DCA94B728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1CC9-5821-4A39-84E1-A333C9177D1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CAB3047D-2486-467D-80ED-F1C7F2A58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FFAC6656-8CDA-45B3-8DA9-E0E601CC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6F38-2BFB-4B78-B6F7-2BCB71A2F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49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081CAAF-9C9A-4E2F-ADFA-05C77D04C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D60BA30-6049-44D4-8BC2-ECA59BCC6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BBB129F-07F6-4FEA-B251-0FF444E78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1CC9-5821-4A39-84E1-A333C9177D1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83211C0-0928-470D-8381-76FEB85D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4A080C3-2F3B-4C4D-BF10-6D3B946B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6F38-2BFB-4B78-B6F7-2BCB71A2F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5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07A765EA-860D-483C-8987-B872D07CC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38200DD3-2988-426A-9BD7-E7BAE9F05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92B61CA-D710-42A3-90FF-B045C01DE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1CC9-5821-4A39-84E1-A333C9177D1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BB7320C-1486-4335-BD0A-7183EEF10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D7D7B89-CE01-4E18-92D3-13E79BE9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6F38-2BFB-4B78-B6F7-2BCB71A2F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20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9D87806E-924E-44C9-A759-F0C28CEBE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1A587D0-B770-4704-A4EE-F8B42CE23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0BDDB8E-5FF2-4DC2-B1AB-348223354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11CC9-5821-4A39-84E1-A333C9177D1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FABF0E3-9DFB-4F9D-91E9-F8AEBE71C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4051FD0-A54E-470B-A220-9251DAA8F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D6F38-2BFB-4B78-B6F7-2BCB71A2F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61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hderAhmed/Better-route-tracking-syste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AEC4D40-017D-484C-9889-325D83324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4990" y="3429000"/>
            <a:ext cx="9144000" cy="1174087"/>
          </a:xfrm>
        </p:spPr>
        <p:txBody>
          <a:bodyPr>
            <a:normAutofit/>
          </a:bodyPr>
          <a:lstStyle/>
          <a:p>
            <a:r>
              <a:rPr lang="en-US" sz="3600" b="1" i="1" u="sng" dirty="0">
                <a:solidFill>
                  <a:srgbClr val="00B050"/>
                </a:solidFill>
              </a:rPr>
              <a:t>By:eng.khder Ahmed </a:t>
            </a:r>
            <a:br>
              <a:rPr lang="en-US" sz="3600" b="1" i="1" u="sng" dirty="0">
                <a:solidFill>
                  <a:srgbClr val="00B050"/>
                </a:solidFill>
              </a:rPr>
            </a:br>
            <a:r>
              <a:rPr lang="en-US" sz="3600" b="1" i="1" u="sng" dirty="0">
                <a:solidFill>
                  <a:srgbClr val="00B050"/>
                </a:solidFill>
              </a:rPr>
              <a:t>software engineering&amp; Back-End developer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76838D1C-61A3-48D8-893F-5BCBBC4AD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921" y="1137316"/>
            <a:ext cx="9889375" cy="1273376"/>
          </a:xfrm>
        </p:spPr>
        <p:txBody>
          <a:bodyPr>
            <a:noAutofit/>
          </a:bodyPr>
          <a:lstStyle/>
          <a:p>
            <a:pPr algn="l"/>
            <a:r>
              <a:rPr lang="en-US" sz="3300" b="1" i="1" u="sng" dirty="0">
                <a:solidFill>
                  <a:srgbClr val="00B050"/>
                </a:solidFill>
                <a:latin typeface="+mj-lt"/>
              </a:rPr>
              <a:t>An intelligent, all-in-one platform for automating fleet logistics, tracking routes, and reducing operational costs</a:t>
            </a:r>
          </a:p>
        </p:txBody>
      </p:sp>
    </p:spTree>
    <p:extLst>
      <p:ext uri="{BB962C8B-B14F-4D97-AF65-F5344CB8AC3E}">
        <p14:creationId xmlns:p14="http://schemas.microsoft.com/office/powerpoint/2010/main" val="1801147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068C5D8-F820-498B-A9AB-767E9412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63" y="1296149"/>
            <a:ext cx="3964564" cy="391333"/>
          </a:xfrm>
        </p:spPr>
        <p:txBody>
          <a:bodyPr>
            <a:normAutofit/>
          </a:bodyPr>
          <a:lstStyle/>
          <a:p>
            <a:pPr algn="l"/>
            <a:r>
              <a:rPr lang="en-US" sz="2000" b="1" i="1" u="sng" dirty="0">
                <a:solidFill>
                  <a:srgbClr val="00B050"/>
                </a:solidFill>
              </a:rPr>
              <a:t>1-Product &amp; Developer Branding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743F22-1827-4C8B-9761-12496B25E5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3363" y="2392720"/>
            <a:ext cx="1195863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Hero Section with Dark Glassmorphism Container and Stack Badges.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DeliveryRouter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Subtitle: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High-Performance Enterprise Fleet &amp; Logistics Optimization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Microservice-driven route optimization, real-time spatial tracking, and granular fleet payload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 Stack Pill Badges: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Laravel 12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|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 FastAPI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|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 Compose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|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Livewire 3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|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Redis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|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Leaflet.js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Engineer Info: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Khder Jaber Ahmed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&amp; Software Engineer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PHP/Laravel, Python Microservices, System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272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C2F5C56-AF17-4F81-942F-5C08AA46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47" y="473191"/>
            <a:ext cx="5257800" cy="840220"/>
          </a:xfrm>
        </p:spPr>
        <p:txBody>
          <a:bodyPr>
            <a:normAutofit/>
          </a:bodyPr>
          <a:lstStyle/>
          <a:p>
            <a:pPr algn="l"/>
            <a:r>
              <a:rPr lang="en-US" sz="2000" b="1" i="1" u="sng" dirty="0">
                <a:solidFill>
                  <a:srgbClr val="00B050"/>
                </a:solidFill>
              </a:rPr>
              <a:t>2-The Engineering Problem &amp; Solution Matrix</a:t>
            </a:r>
          </a:p>
        </p:txBody>
      </p:sp>
      <p:graphicFrame>
        <p:nvGraphicFramePr>
          <p:cNvPr id="4" name="عنصر نائب للمحتوى 3">
            <a:extLst>
              <a:ext uri="{FF2B5EF4-FFF2-40B4-BE49-F238E27FC236}">
                <a16:creationId xmlns:a16="http://schemas.microsoft.com/office/drawing/2014/main" id="{E703F9E9-A45B-418E-ACBE-CD5FD64C49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4112085"/>
              </p:ext>
            </p:extLst>
          </p:nvPr>
        </p:nvGraphicFramePr>
        <p:xfrm>
          <a:off x="372023" y="1811727"/>
          <a:ext cx="10515600" cy="3408667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969112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19759167"/>
                    </a:ext>
                  </a:extLst>
                </a:gridCol>
              </a:tblGrid>
              <a:tr h="438739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Legacy Monolithic Approach (The Bottleneck)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DeliveryRouter Architecture (The Solution)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536717"/>
                  </a:ext>
                </a:extLst>
              </a:tr>
              <a:tr h="742482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Latency: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Synchronous $O(N^2)$ VRP route calculations freeze HTTP workers.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Asynchronous Decoupling: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Heavy routing algorithms offloaded to a dedicated Python engine.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571301"/>
                  </a:ext>
                </a:extLst>
              </a:tr>
              <a:tr h="742482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Monolithic Overload: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Single-threaded PHP processes struggle under spatial computation.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FastAPI Microservice: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Asynchronous ASGI service handling distance matrix execution.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164497"/>
                  </a:ext>
                </a:extLst>
              </a:tr>
              <a:tr h="742482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Unoptimized Payloads: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Lack of dynamic payload validation leads to overloaded fleets.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Strict Capacity Constraints: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Real-time payload math (max_weight_kg) preventing fleet overload.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0031446"/>
                  </a:ext>
                </a:extLst>
              </a:tr>
              <a:tr h="742482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 Page Reloads: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Slow GIS map re-renders disrupt dispatch operations.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Reactive Client-Side GIS: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Livewire 3 + Alpine.js with Leaflet.js canvas updates without page reloads.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851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38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F5E0E6B-572D-4ACB-B878-92971D15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365567" cy="790344"/>
          </a:xfrm>
        </p:spPr>
        <p:txBody>
          <a:bodyPr>
            <a:normAutofit/>
          </a:bodyPr>
          <a:lstStyle/>
          <a:p>
            <a:pPr algn="l"/>
            <a:r>
              <a:rPr lang="en-US" sz="2000" b="1" i="1" u="sng" dirty="0">
                <a:solidFill>
                  <a:srgbClr val="00B050"/>
                </a:solidFill>
              </a:rPr>
              <a:t>3-Microservice Architecture &amp; Data Flow</a:t>
            </a:r>
          </a:p>
        </p:txBody>
      </p:sp>
      <p:pic>
        <p:nvPicPr>
          <p:cNvPr id="5" name="عنصر نائب للمحتوى 4">
            <a:extLst>
              <a:ext uri="{FF2B5EF4-FFF2-40B4-BE49-F238E27FC236}">
                <a16:creationId xmlns:a16="http://schemas.microsoft.com/office/drawing/2014/main" id="{A58791FF-CD8B-4BCD-AAD6-B64049D45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" y="1155470"/>
            <a:ext cx="11887200" cy="5702300"/>
          </a:xfrm>
        </p:spPr>
      </p:pic>
    </p:spTree>
    <p:extLst>
      <p:ext uri="{BB962C8B-B14F-4D97-AF65-F5344CB8AC3E}">
        <p14:creationId xmlns:p14="http://schemas.microsoft.com/office/powerpoint/2010/main" val="117403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514A6C6-4587-4A9F-BE85-BDF5BD538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527842"/>
            <a:ext cx="1082059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Core Architectural Pillars: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12 Domain Core: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RBAC, business logic, session security, and state mutations.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 Optimization Engine: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Shuffled Frog Leaping Algorithm (SFLA)</a:t>
            </a:r>
            <a:br>
              <a:rPr kumimoji="0" lang="ar-SY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dynamic Vehicle Routing Problems (VRP).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Redis Event Queue: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Manages asynchronous background job processing,</a:t>
            </a:r>
            <a:br>
              <a:rPr kumimoji="0" lang="ar-SY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preserving sub-50ms HTTP response cycles.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Isolated Docker Stack: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Multi-container orchestration via Docker Compose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laravel_app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fastapi_app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redis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br>
              <a:rPr kumimoji="0" lang="ar-SY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 a private bridge network.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82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49E042C-B50B-4F02-9468-9FDE05DC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92236" cy="915035"/>
          </a:xfrm>
        </p:spPr>
        <p:txBody>
          <a:bodyPr>
            <a:normAutofit/>
          </a:bodyPr>
          <a:lstStyle/>
          <a:p>
            <a:pPr algn="l"/>
            <a:r>
              <a:rPr lang="en-US" sz="2000" b="1" i="1" u="sng" dirty="0">
                <a:solidFill>
                  <a:srgbClr val="00B050"/>
                </a:solidFill>
              </a:rPr>
              <a:t>4-Production Core 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A52E17-96F5-4697-9ECD-190563ADDC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3575" y="1158583"/>
            <a:ext cx="11298440" cy="475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Layout: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2x3 Feature Card Grid with Icons and Micro-Highlights.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Analytics Dashboard: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Real-time fleet state tracking &amp; KPI monitoring via Chart.js.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Non-blocking background polling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wire:poll.10s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Order Lifecycle Engine: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Strict finite state machine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Pending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rightarrow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Dispatched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rightarrow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Delivered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Spatial coordinate indexing (Latitude, Longitude) and parcel weight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GIS Route Planner: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Leaflet.js and OpenStreetMap integration mapping active depots, vehicles, and destinations.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Distance-matrix generation and payload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Fleet Capacity Controller: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Dynamic vehicle state switching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Available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On Route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Maintenance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Payload weight bounds enforcement before dispatch.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Dispatch Hub Manager: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Central warehouse and distribution node configuration.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Spatial grouping of orders based on proximity heuristics.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880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49E042C-B50B-4F02-9468-9FDE05DC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92236" cy="915035"/>
          </a:xfrm>
        </p:spPr>
        <p:txBody>
          <a:bodyPr>
            <a:normAutofit/>
          </a:bodyPr>
          <a:lstStyle/>
          <a:p>
            <a:pPr algn="l"/>
            <a:r>
              <a:rPr lang="en-US" sz="2000" b="1" i="1" u="sng" dirty="0">
                <a:solidFill>
                  <a:srgbClr val="00B050"/>
                </a:solidFill>
              </a:rPr>
              <a:t>4-Production Core Modules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03815C0-E9B1-42F2-BD84-7BD0879704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1887" y="1185168"/>
            <a:ext cx="6768003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Granular RBAC Security: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 enforcing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Admin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Manager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Driver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privileges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Isolated per-user state mutation handlers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updateRole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newRole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689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49E042C-B50B-4F02-9468-9FDE05DC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069" y="730885"/>
            <a:ext cx="5196840" cy="915035"/>
          </a:xfrm>
        </p:spPr>
        <p:txBody>
          <a:bodyPr>
            <a:normAutofit/>
          </a:bodyPr>
          <a:lstStyle/>
          <a:p>
            <a:pPr algn="l"/>
            <a:r>
              <a:rPr lang="en-US" sz="2000" b="1" i="1" u="sng" dirty="0">
                <a:solidFill>
                  <a:srgbClr val="00B050"/>
                </a:solidFill>
              </a:rPr>
              <a:t>5-Performance, Security &amp; DevOps Engineering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BA145A4-089F-415D-9E18-2FE9F22D78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6901" y="2079111"/>
            <a:ext cx="8447549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Defensive Application Security: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Rate-limiting middleware on auth routes mitigating Brute-Force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Enforced encrypted HTTP-Only session cookies with strict CSRF protection.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Database &amp; Query Optimization: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Eager loading on Eloquent relationships eliminating $N+1$ query overhead.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Optimized spatial indexing for high-frequency geolocation lookups.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Containerization &amp; Fail-Safe Design: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Clean separation of concerns with environment-isolated Docker containers.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Circuit breaker patterns for seamless API communications between PHP and Python.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774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49E042C-B50B-4F02-9468-9FDE05DC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069" y="730885"/>
            <a:ext cx="5196840" cy="915035"/>
          </a:xfrm>
        </p:spPr>
        <p:txBody>
          <a:bodyPr>
            <a:normAutofit/>
          </a:bodyPr>
          <a:lstStyle/>
          <a:p>
            <a:pPr algn="l"/>
            <a:r>
              <a:rPr lang="en-US" sz="2000" b="1" i="1" u="sng" dirty="0">
                <a:solidFill>
                  <a:srgbClr val="00B050"/>
                </a:solidFill>
              </a:rPr>
              <a:t>6-Repository &amp; Call to Action (CTA)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FFEDCF-5A5C-4E97-A51D-41B26C2536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7450" y="2455893"/>
            <a:ext cx="1076625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1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hlinkClick r:id="rId2"/>
              </a:rPr>
              <a:t>https://github.com/KhderAhmed/Better-route-tracking-system</a:t>
            </a:r>
            <a:endParaRPr kumimoji="0" lang="ar-SY" altLang="en-US" sz="1800" b="1" i="1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1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cd Better-route-tracking-system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1" i="1" u="sng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/>
              </a:rPr>
              <a:t>docker compose up --build -d </a:t>
            </a:r>
            <a:endParaRPr kumimoji="0" lang="en-US" altLang="en-US" sz="2000" b="1" i="1" u="sng" strike="noStrike" cap="none" normalizeH="0" baseline="0" dirty="0">
              <a:ln>
                <a:noFill/>
              </a:ln>
              <a:solidFill>
                <a:srgbClr val="92D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 for Software Engineering / Senior Backend Roles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Reach out on LinkedIn for full technical discussions &amp; code walkthroughs.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937377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654</Words>
  <Application>Microsoft Office PowerPoint</Application>
  <PresentationFormat>شاشة عريضة</PresentationFormat>
  <Paragraphs>66</Paragraphs>
  <Slides>9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Google Sans Text</vt:lpstr>
      <vt:lpstr>نسق Office</vt:lpstr>
      <vt:lpstr>By:eng.khder Ahmed  software engineering&amp; Back-End developer</vt:lpstr>
      <vt:lpstr>1-Product &amp; Developer Branding</vt:lpstr>
      <vt:lpstr>2-The Engineering Problem &amp; Solution Matrix</vt:lpstr>
      <vt:lpstr>3-Microservice Architecture &amp; Data Flow</vt:lpstr>
      <vt:lpstr>Core Architectural Pillars: Laravel 12 Domain Core: Handles RBAC, business logic, session security, and state mutations. FastAPI Optimization Engine: Executes the Shuffled Frog Leaping Algorithm (SFLA)  for dynamic Vehicle Routing Problems (VRP). Redis Event Queue: Manages asynchronous background job processing,  preserving sub-50ms HTTP response cycles. Isolated Docker Stack: Multi-container orchestration via Docker Compose (laravel_app, fastapi_app, redis)  on a private bridge network. </vt:lpstr>
      <vt:lpstr>4-Production Core Modules</vt:lpstr>
      <vt:lpstr>4-Production Core Modules</vt:lpstr>
      <vt:lpstr>5-Performance, Security &amp; DevOps Engineering</vt:lpstr>
      <vt:lpstr>6-Repository &amp; Call to Action (CTA)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By:eng.khder Ahmed  software engineering&amp; Back-End developer</dc:title>
  <dc:creator>ASUS</dc:creator>
  <cp:lastModifiedBy>ASUS</cp:lastModifiedBy>
  <cp:revision>6</cp:revision>
  <dcterms:created xsi:type="dcterms:W3CDTF">2026-10-15T17:57:12Z</dcterms:created>
  <dcterms:modified xsi:type="dcterms:W3CDTF">2026-10-15T18:52:33Z</dcterms:modified>
</cp:coreProperties>
</file>